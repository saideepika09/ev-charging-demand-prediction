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0096-D61F-25A1-8983-83C283960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0CC83-F85A-3CAA-23D2-E78AA6A7B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3D0C-5018-0B13-CDE9-63CF535F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C806F-3C7B-F309-D461-A036DF23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C7F97-2EAF-1784-EFD8-FC2EBBD1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61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B911-4E9A-522E-DED9-5CDF012C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4F43-886E-CA32-A04F-0F1EA7631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4DFC5-AB9D-0A46-9441-0BA0D0D3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4401F-C124-0404-A943-4EE218AB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04C0-1650-6EAD-EAC5-A3148DBC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9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AF40-8AE8-7254-39D2-0F7D188A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8F053-E4C2-BFFC-0FC5-65ABE2EC8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4FAC6-01EB-5010-EF44-6205F8E7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59B2-2B79-A935-DC6C-0294591C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F88F-35AC-1EB0-47A9-808A0335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3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FF40-B78A-99C1-840B-B1C003A4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7B886-1494-6E24-644D-0344716EF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5435D-19B3-B077-5A5B-B82EE4799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B2FBD-8B4D-AB90-F3BF-B0FF21BF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C9370-84C3-6FF9-3D03-03184CB0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30216-5924-EA5B-7F97-0B65C86B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0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D9AC-8BE1-44B4-57DD-C7C9131F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42202-3B02-6953-69CB-EA67B81F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BF6AC-1847-BB92-943D-C01046D72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19E03-D189-D37B-FABC-831734DE0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892543-B09D-04F6-FB47-978F7D2CC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2D7CA-59BD-BF45-3E38-BCDAFB11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6FA82-FFE9-8160-2A3A-E9AA3AE8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AA9-EE2A-F7A3-0A0B-9C53C21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8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C3C7-D192-9203-EE89-4EFCDF7E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EE3D9-F507-A1D9-8A97-7AE4DE9C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E9F6-FEDD-7CB5-3209-07A0D264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CC43C-A661-2C0D-AE6D-986470CB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3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A2A18-550C-42DE-1469-18051076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9DA81-099F-CD86-875B-C20AD097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B7A1B-904E-95FF-3858-EFFD9CEE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5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F096-1485-9472-B01D-DE7B27F5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607D-9C77-91F3-E81E-FF981803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3B297-8C76-C9FD-B1C9-2BE53029A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05BD7-8D30-F145-FF87-0A167A682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F63BB-80A7-9406-5F01-2B6FD52D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A6339-3315-48B1-CE2B-4F7C2D4B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75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2D21-2132-99DE-DD0D-C54E331E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71390-2FBE-A427-B039-ACE88852D6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4A82A-04A7-2F5E-2FDD-E5FB3A784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051F4-F1EC-975A-DF4F-2DFD1B68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6F98-5E90-795F-635F-6735984F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88212-DECE-0052-B15C-D913D8BD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E761-8710-F0D1-43AA-2AE35B06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8C9A5-7545-CD89-E1A2-A7755D49D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CAC4-5873-080C-ACAB-E0E879CE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F84C-8CFA-B366-E793-4577D103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CE51-1370-6455-81F6-1717A918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4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A678D-8CF7-5747-BE0F-94B56EA07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A2148-70AE-FC22-84B8-0CF3B61CC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AD4DD-96C0-CE04-34D4-A1327434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3294A-AD7B-1E44-F3CC-36E3D245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6165-EAFC-56EC-75A6-BD62BB65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8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FDD0D-F1C5-E9EF-B4D8-90A05ACF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9DDB0-1DC3-A95F-5F23-C372EC619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93EA-2989-086E-0BF8-E9253412B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2E2A1-CCA1-4A32-AA34-6F9D44625C69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ACE5-4157-AECE-C575-119499FE0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D576A-26CB-C870-0658-CB15FBD09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68BB-37BA-4183-8CD9-360C76A3E4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9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ctric Vehicle Charging Station. Flat Design Car and Charger Illustration. Eco-Friendly Transportation Concept. Sustainable Mobility Icon">
            <a:extLst>
              <a:ext uri="{FF2B5EF4-FFF2-40B4-BE49-F238E27FC236}">
                <a16:creationId xmlns:a16="http://schemas.microsoft.com/office/drawing/2014/main" id="{735CF7FD-58E1-62FD-224B-2425F293D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897" y="821539"/>
            <a:ext cx="5894439" cy="2515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A46E55-7588-B887-E3FE-B2C04CEE9D10}"/>
              </a:ext>
            </a:extLst>
          </p:cNvPr>
          <p:cNvSpPr txBox="1"/>
          <p:nvPr/>
        </p:nvSpPr>
        <p:spPr>
          <a:xfrm>
            <a:off x="2880851" y="9863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002060"/>
                </a:solidFill>
                <a:latin typeface="Algerian" panose="04020705040A02060702" pitchFamily="82" charset="0"/>
              </a:rPr>
              <a:t>EV Charging Demand Prediction</a:t>
            </a:r>
          </a:p>
          <a:p>
            <a:pPr algn="ctr">
              <a:buNone/>
            </a:pPr>
            <a:r>
              <a:rPr lang="en-IN" sz="2800" dirty="0">
                <a:solidFill>
                  <a:srgbClr val="002060"/>
                </a:solidFill>
                <a:latin typeface="Algerian" panose="04020705040A02060702" pitchFamily="82" charset="0"/>
              </a:rPr>
              <a:t>Machine Learning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91B1-5811-8BA6-6DD0-7AE6EBD058EB}"/>
              </a:ext>
            </a:extLst>
          </p:cNvPr>
          <p:cNvSpPr txBox="1"/>
          <p:nvPr/>
        </p:nvSpPr>
        <p:spPr>
          <a:xfrm>
            <a:off x="2600632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Presented by: Deepika B</a:t>
            </a:r>
          </a:p>
          <a:p>
            <a:pPr algn="ctr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GUVI ML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698CF-5DA7-D190-842C-F4D1A8C749E8}"/>
              </a:ext>
            </a:extLst>
          </p:cNvPr>
          <p:cNvSpPr txBox="1"/>
          <p:nvPr/>
        </p:nvSpPr>
        <p:spPr>
          <a:xfrm>
            <a:off x="351503" y="4189802"/>
            <a:ext cx="1165122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IN" sz="2400" b="1" dirty="0">
                <a:solidFill>
                  <a:srgbClr val="C00000"/>
                </a:solidFill>
              </a:rPr>
              <a:t>Project Objective:</a:t>
            </a:r>
          </a:p>
          <a:p>
            <a:endParaRPr lang="en-IN" sz="1800" dirty="0"/>
          </a:p>
          <a:p>
            <a:r>
              <a:rPr lang="en-IN" sz="1800" b="1" dirty="0"/>
              <a:t>EV Charging Demand Prediction</a:t>
            </a:r>
            <a:r>
              <a:rPr lang="en-IN" sz="1800" dirty="0"/>
              <a:t> is a machine learning project designed to predict electric vehicle charging demand based on charging session characteristics, time-related factors, location, and charger information. The project includes data cleaning, exploratory data analysis, feature engineering, regression model comparison, model evaluation, feature-importance analysis, model serialization using pickle, and deployment through an interactive </a:t>
            </a:r>
            <a:r>
              <a:rPr lang="en-IN" sz="1800" dirty="0" err="1"/>
              <a:t>Streamlit</a:t>
            </a:r>
            <a:r>
              <a:rPr lang="en-IN" sz="1800" dirty="0"/>
              <a:t> dashboard.</a:t>
            </a:r>
          </a:p>
        </p:txBody>
      </p:sp>
    </p:spTree>
    <p:extLst>
      <p:ext uri="{BB962C8B-B14F-4D97-AF65-F5344CB8AC3E}">
        <p14:creationId xmlns:p14="http://schemas.microsoft.com/office/powerpoint/2010/main" val="333296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DDA5F4-A396-BB74-E8B3-BA65E3B60F52}"/>
              </a:ext>
            </a:extLst>
          </p:cNvPr>
          <p:cNvSpPr txBox="1"/>
          <p:nvPr/>
        </p:nvSpPr>
        <p:spPr>
          <a:xfrm>
            <a:off x="304800" y="238121"/>
            <a:ext cx="1179871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+mj-lt"/>
              <a:buAutoNum type="arabicPeriod" startAt="2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Dataset Description:</a:t>
            </a:r>
          </a:p>
          <a:p>
            <a:pPr lvl="1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25589E-8326-C24C-0635-C6306398C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30880"/>
              </p:ext>
            </p:extLst>
          </p:nvPr>
        </p:nvGraphicFramePr>
        <p:xfrm>
          <a:off x="304799" y="1223005"/>
          <a:ext cx="11257936" cy="4469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8968">
                  <a:extLst>
                    <a:ext uri="{9D8B030D-6E8A-4147-A177-3AD203B41FA5}">
                      <a16:colId xmlns:a16="http://schemas.microsoft.com/office/drawing/2014/main" val="267229635"/>
                    </a:ext>
                  </a:extLst>
                </a:gridCol>
                <a:gridCol w="5628968">
                  <a:extLst>
                    <a:ext uri="{9D8B030D-6E8A-4147-A177-3AD203B41FA5}">
                      <a16:colId xmlns:a16="http://schemas.microsoft.com/office/drawing/2014/main" val="3624223942"/>
                    </a:ext>
                  </a:extLst>
                </a:gridCol>
              </a:tblGrid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Column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Description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818889862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UserID</a:t>
                      </a:r>
                      <a:endParaRPr lang="en-IN" sz="1500" dirty="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Unique identifier for the user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07681335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ChargerID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Identifier for the charging station/charger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553353030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ChargerCompany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Charger company identifier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0808126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Location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location type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01406606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ChargerType</a:t>
                      </a:r>
                      <a:endParaRPr lang="en-IN" sz="1500" dirty="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Charger type identifier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812732048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StartDay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start day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51359929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StartTime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start time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40019678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EndDay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end day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579222206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/>
                        <a:t>EndTime</a:t>
                      </a:r>
                      <a:endParaRPr lang="en-IN" sz="1500" dirty="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end time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943945651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StartDatetime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start timestamp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74975473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EndDatetime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Charging session end timestamp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87657728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Duration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Original recorded charging duration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57756673"/>
                  </a:ext>
                </a:extLst>
              </a:tr>
              <a:tr h="31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Demand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Target variable representing charging demand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932062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141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865CC9-486F-6884-FC04-4645CF3AB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62206"/>
              </p:ext>
            </p:extLst>
          </p:nvPr>
        </p:nvGraphicFramePr>
        <p:xfrm>
          <a:off x="1818752" y="2923627"/>
          <a:ext cx="702045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0225">
                  <a:extLst>
                    <a:ext uri="{9D8B030D-6E8A-4147-A177-3AD203B41FA5}">
                      <a16:colId xmlns:a16="http://schemas.microsoft.com/office/drawing/2014/main" val="551250803"/>
                    </a:ext>
                  </a:extLst>
                </a:gridCol>
                <a:gridCol w="3510225">
                  <a:extLst>
                    <a:ext uri="{9D8B030D-6E8A-4147-A177-3AD203B41FA5}">
                      <a16:colId xmlns:a16="http://schemas.microsoft.com/office/drawing/2014/main" val="1423502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190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Original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72,856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54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records 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records 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37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cleaned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72,826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59558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DAE95C-76CD-5996-46F7-CB05C81A8869}"/>
              </a:ext>
            </a:extLst>
          </p:cNvPr>
          <p:cNvSpPr txBox="1"/>
          <p:nvPr/>
        </p:nvSpPr>
        <p:spPr>
          <a:xfrm>
            <a:off x="331596" y="338304"/>
            <a:ext cx="1152545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3. Data Cleaning</a:t>
            </a:r>
          </a:p>
          <a:p>
            <a:pPr>
              <a:buNone/>
            </a:pPr>
            <a:r>
              <a:rPr lang="en-IN" dirty="0"/>
              <a:t>The dataset was checked and cleaned to ensure data quality before performing analysis and model training.</a:t>
            </a:r>
          </a:p>
          <a:p>
            <a:pPr>
              <a:buNone/>
            </a:pPr>
            <a:r>
              <a:rPr lang="en-IN" b="1" dirty="0"/>
              <a:t>Cleaning steps performed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Converted </a:t>
            </a:r>
            <a:r>
              <a:rPr lang="en-IN" dirty="0" err="1">
                <a:latin typeface="+mn-lt"/>
              </a:rPr>
              <a:t>StartDatetime</a:t>
            </a:r>
            <a:r>
              <a:rPr lang="en-IN" dirty="0"/>
              <a:t> and </a:t>
            </a:r>
            <a:r>
              <a:rPr lang="en-IN" dirty="0" err="1">
                <a:latin typeface="+mn-lt"/>
              </a:rPr>
              <a:t>EndDatetime</a:t>
            </a:r>
            <a:r>
              <a:rPr lang="en-IN" dirty="0"/>
              <a:t> into datetime format.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Identified and removed </a:t>
            </a:r>
            <a:r>
              <a:rPr lang="en-IN" b="1" dirty="0"/>
              <a:t>17 records with invalid timestamps</a:t>
            </a:r>
            <a:r>
              <a:rPr lang="en-IN" dirty="0"/>
              <a:t>, where the end time occurred before the start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Calculated charging duration from the start and end timestamps.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Compared the original </a:t>
            </a:r>
            <a:r>
              <a:rPr lang="en-IN" dirty="0">
                <a:latin typeface="+mn-lt"/>
              </a:rPr>
              <a:t>Duration</a:t>
            </a:r>
            <a:r>
              <a:rPr lang="en-IN" dirty="0"/>
              <a:t> with the calculated duration and identified inconsistencies.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Removed </a:t>
            </a:r>
            <a:r>
              <a:rPr lang="en-IN" b="1" dirty="0"/>
              <a:t>13 exact duplicate records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Checked for missing values; </a:t>
            </a:r>
            <a:r>
              <a:rPr lang="en-IN" b="1" dirty="0"/>
              <a:t>no missing values were present</a:t>
            </a:r>
            <a:r>
              <a:rPr lang="en-IN" dirty="0"/>
              <a:t> in the final dataset.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87142-DF90-A64E-FB5D-7D47211C3B4E}"/>
              </a:ext>
            </a:extLst>
          </p:cNvPr>
          <p:cNvSpPr txBox="1"/>
          <p:nvPr/>
        </p:nvSpPr>
        <p:spPr>
          <a:xfrm>
            <a:off x="504930" y="4924921"/>
            <a:ext cx="11525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Final Dataset</a:t>
            </a:r>
          </a:p>
          <a:p>
            <a:pPr>
              <a:buNone/>
            </a:pPr>
            <a:endParaRPr lang="en-IN" b="1" dirty="0"/>
          </a:p>
          <a:p>
            <a:r>
              <a:rPr lang="en-IN" dirty="0"/>
              <a:t>The cleaned dataset was saved as ev_charging_cleaned.csv and used for further analysis and machine learning.</a:t>
            </a:r>
          </a:p>
          <a:p>
            <a:pPr>
              <a:buNone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41631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D1BFD-3C30-B9E1-ABF9-0BE49361E3EB}"/>
              </a:ext>
            </a:extLst>
          </p:cNvPr>
          <p:cNvSpPr txBox="1"/>
          <p:nvPr/>
        </p:nvSpPr>
        <p:spPr>
          <a:xfrm>
            <a:off x="291403" y="208569"/>
            <a:ext cx="1142497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4. Exploratory Data Analysis (EDA)</a:t>
            </a:r>
          </a:p>
          <a:p>
            <a:pPr>
              <a:buNone/>
            </a:pPr>
            <a:r>
              <a:rPr lang="en-IN" dirty="0"/>
              <a:t>EDA was performed to understand the major patterns and relationships in EV charging demand.</a:t>
            </a:r>
          </a:p>
          <a:p>
            <a:pPr>
              <a:buNone/>
            </a:pPr>
            <a:r>
              <a:rPr lang="en-IN" b="1" dirty="0"/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Demand Distribution:</a:t>
            </a:r>
            <a:r>
              <a:rPr lang="en-IN" dirty="0"/>
              <a:t> Demand was right-skewed, with values ranging from </a:t>
            </a:r>
            <a:r>
              <a:rPr lang="en-IN" b="1" dirty="0"/>
              <a:t>0.01 to 97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Charging Duration:</a:t>
            </a:r>
            <a:r>
              <a:rPr lang="en-IN" dirty="0"/>
              <a:t> </a:t>
            </a:r>
            <a:r>
              <a:rPr lang="en-IN" dirty="0" err="1">
                <a:latin typeface="+mn-lt"/>
              </a:rPr>
              <a:t>Calculated_Duration</a:t>
            </a:r>
            <a:r>
              <a:rPr lang="en-IN" dirty="0"/>
              <a:t> showed a moderate positive relationship with Demand, with a correlation of approximately </a:t>
            </a:r>
            <a:r>
              <a:rPr lang="en-IN" b="1" dirty="0"/>
              <a:t>0.604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Time of Day:</a:t>
            </a:r>
            <a:r>
              <a:rPr lang="en-IN" dirty="0"/>
              <a:t> Demand varied significantly across different hours. Higher demand was observed during late-night/early-morning hours and again during the evening.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Day of Week:</a:t>
            </a:r>
            <a:r>
              <a:rPr lang="en-IN" dirty="0"/>
              <a:t> Demand remained relatively stable across different days of the week.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Charger Type:</a:t>
            </a:r>
            <a:r>
              <a:rPr lang="en-IN" dirty="0"/>
              <a:t> Different charger types showed differences in their average demand.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Charger Company:</a:t>
            </a:r>
            <a:r>
              <a:rPr lang="en-IN" dirty="0"/>
              <a:t> Average demand varied between the two charger companies.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Location:</a:t>
            </a:r>
            <a:r>
              <a:rPr lang="en-IN" dirty="0"/>
              <a:t> Demand varied across charging locations, with some smaller location categories showing higher average demand.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EDA Conclusion</a:t>
            </a:r>
          </a:p>
          <a:p>
            <a:pPr>
              <a:buNone/>
            </a:pPr>
            <a:r>
              <a:rPr lang="en-IN" dirty="0"/>
              <a:t>The analysis indicated that </a:t>
            </a:r>
            <a:r>
              <a:rPr lang="en-IN" b="1" dirty="0"/>
              <a:t>charging duration, time-related factors, charger characteristics, and location</a:t>
            </a:r>
            <a:r>
              <a:rPr lang="en-IN" dirty="0"/>
              <a:t> are useful variables for predicting EV charging demand. These findings were used to guide the feature engineering and machine learning stages.</a:t>
            </a:r>
          </a:p>
        </p:txBody>
      </p:sp>
    </p:spTree>
    <p:extLst>
      <p:ext uri="{BB962C8B-B14F-4D97-AF65-F5344CB8AC3E}">
        <p14:creationId xmlns:p14="http://schemas.microsoft.com/office/powerpoint/2010/main" val="134706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6766F-606F-9677-E3F1-FAEF3B921542}"/>
              </a:ext>
            </a:extLst>
          </p:cNvPr>
          <p:cNvSpPr txBox="1"/>
          <p:nvPr/>
        </p:nvSpPr>
        <p:spPr>
          <a:xfrm>
            <a:off x="294967" y="56535"/>
            <a:ext cx="11602065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5. Feature Engineering</a:t>
            </a:r>
          </a:p>
          <a:p>
            <a:r>
              <a:rPr lang="en-IN" dirty="0"/>
              <a:t>Feature engineering was performed to extract useful information from the existing dataset and prepare it for machine learning.</a:t>
            </a:r>
          </a:p>
          <a:p>
            <a:r>
              <a:rPr lang="en-IN" b="1" dirty="0">
                <a:solidFill>
                  <a:schemeClr val="accent2"/>
                </a:solidFill>
              </a:rPr>
              <a:t>Features Created</a:t>
            </a:r>
          </a:p>
          <a:p>
            <a:r>
              <a:rPr lang="en-IN" dirty="0"/>
              <a:t>From the </a:t>
            </a:r>
            <a:r>
              <a:rPr lang="en-IN" dirty="0" err="1"/>
              <a:t>StartDatetime</a:t>
            </a:r>
            <a:r>
              <a:rPr lang="en-IN" dirty="0"/>
              <a:t> column, the following time-based features were extracted:</a:t>
            </a:r>
          </a:p>
          <a:p>
            <a:pPr lvl="0"/>
            <a:r>
              <a:rPr lang="en-IN" b="1" dirty="0"/>
              <a:t>Hour</a:t>
            </a:r>
            <a:r>
              <a:rPr lang="en-IN" dirty="0"/>
              <a:t> – hour of the charging session</a:t>
            </a:r>
          </a:p>
          <a:p>
            <a:pPr lvl="0"/>
            <a:r>
              <a:rPr lang="en-IN" b="1" dirty="0"/>
              <a:t>Day</a:t>
            </a:r>
            <a:r>
              <a:rPr lang="en-IN" dirty="0"/>
              <a:t> – day of the month</a:t>
            </a:r>
          </a:p>
          <a:p>
            <a:pPr lvl="0"/>
            <a:r>
              <a:rPr lang="en-IN" b="1" dirty="0"/>
              <a:t>Month</a:t>
            </a:r>
            <a:r>
              <a:rPr lang="en-IN" dirty="0"/>
              <a:t> – month of the year</a:t>
            </a:r>
          </a:p>
          <a:p>
            <a:pPr lvl="0"/>
            <a:r>
              <a:rPr lang="en-IN" b="1" dirty="0" err="1"/>
              <a:t>DayOfWeek</a:t>
            </a:r>
            <a:r>
              <a:rPr lang="en-IN" dirty="0"/>
              <a:t> – day of the week</a:t>
            </a:r>
          </a:p>
          <a:p>
            <a:pPr lvl="0"/>
            <a:r>
              <a:rPr lang="en-IN" b="1" dirty="0"/>
              <a:t>Quarter</a:t>
            </a:r>
            <a:r>
              <a:rPr lang="en-IN" dirty="0"/>
              <a:t> – quarter of the year</a:t>
            </a:r>
          </a:p>
          <a:p>
            <a:pPr lvl="0"/>
            <a:r>
              <a:rPr lang="en-IN" b="1" dirty="0" err="1"/>
              <a:t>IsWeekend</a:t>
            </a:r>
            <a:r>
              <a:rPr lang="en-IN" dirty="0"/>
              <a:t> – identifies whether the session occurred on a weekend</a:t>
            </a:r>
          </a:p>
          <a:p>
            <a:pPr lvl="0"/>
            <a:r>
              <a:rPr lang="en-IN" b="1" dirty="0" err="1"/>
              <a:t>TimeOfDay</a:t>
            </a:r>
            <a:r>
              <a:rPr lang="en-IN" dirty="0"/>
              <a:t> – categorizes the session into Night, Morning, Afternoon, or Evening</a:t>
            </a:r>
          </a:p>
          <a:p>
            <a:pPr lvl="0"/>
            <a:endParaRPr lang="en-IN" dirty="0"/>
          </a:p>
          <a:p>
            <a:r>
              <a:rPr lang="en-IN" dirty="0"/>
              <a:t>Additional features used in the model included:</a:t>
            </a:r>
          </a:p>
          <a:p>
            <a:endParaRPr lang="en-IN" dirty="0"/>
          </a:p>
          <a:p>
            <a:pPr lvl="0"/>
            <a:r>
              <a:rPr lang="en-IN" dirty="0"/>
              <a:t>Location</a:t>
            </a:r>
          </a:p>
          <a:p>
            <a:pPr lvl="0"/>
            <a:r>
              <a:rPr lang="en-IN" dirty="0" err="1"/>
              <a:t>ChargerType</a:t>
            </a:r>
            <a:endParaRPr lang="en-IN" dirty="0"/>
          </a:p>
          <a:p>
            <a:pPr lvl="0"/>
            <a:r>
              <a:rPr lang="en-IN" dirty="0" err="1"/>
              <a:t>ChargerCompany</a:t>
            </a:r>
            <a:endParaRPr lang="en-IN" dirty="0"/>
          </a:p>
          <a:p>
            <a:pPr lvl="0"/>
            <a:r>
              <a:rPr lang="en-IN" dirty="0" err="1"/>
              <a:t>Calculated_Duration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87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2DCAE3-381B-6B5D-AA98-28571A6D4A6F}"/>
              </a:ext>
            </a:extLst>
          </p:cNvPr>
          <p:cNvSpPr txBox="1"/>
          <p:nvPr/>
        </p:nvSpPr>
        <p:spPr>
          <a:xfrm>
            <a:off x="103238" y="227099"/>
            <a:ext cx="11985523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2"/>
                </a:solidFill>
              </a:rPr>
              <a:t>Categorical Encoding</a:t>
            </a:r>
          </a:p>
          <a:p>
            <a:r>
              <a:rPr lang="en-IN" sz="1800" dirty="0"/>
              <a:t>Categorical features such as Location and </a:t>
            </a:r>
            <a:r>
              <a:rPr lang="en-IN" sz="1800" dirty="0" err="1"/>
              <a:t>TimeOfDay</a:t>
            </a:r>
            <a:r>
              <a:rPr lang="en-IN" sz="1800" dirty="0"/>
              <a:t> were converted into numerical form using </a:t>
            </a:r>
            <a:r>
              <a:rPr lang="en-IN" sz="1800" b="1" dirty="0"/>
              <a:t>One-Hot Encoding</a:t>
            </a:r>
            <a:r>
              <a:rPr lang="en-IN" sz="1800" dirty="0"/>
              <a:t> so that they could be used by the machine learning models.</a:t>
            </a:r>
          </a:p>
          <a:p>
            <a:endParaRPr lang="en-IN" sz="1800" dirty="0"/>
          </a:p>
          <a:p>
            <a:r>
              <a:rPr lang="en-IN" sz="1800" b="1" dirty="0" err="1">
                <a:solidFill>
                  <a:schemeClr val="accent2"/>
                </a:solidFill>
              </a:rPr>
              <a:t>Modeling</a:t>
            </a:r>
            <a:r>
              <a:rPr lang="en-IN" sz="1800" b="1" dirty="0">
                <a:solidFill>
                  <a:schemeClr val="accent2"/>
                </a:solidFill>
              </a:rPr>
              <a:t> Scenarios</a:t>
            </a:r>
          </a:p>
          <a:p>
            <a:r>
              <a:rPr lang="en-IN" sz="1800" dirty="0"/>
              <a:t>Two feature scenarios were created to evaluate the importance of charging session duration:</a:t>
            </a:r>
          </a:p>
          <a:p>
            <a:pPr lvl="0"/>
            <a:r>
              <a:rPr lang="en-IN" sz="1800" b="1" dirty="0"/>
              <a:t>Model A:</a:t>
            </a:r>
            <a:r>
              <a:rPr lang="en-IN" sz="1800" dirty="0"/>
              <a:t> Used time, location, and charger-related features without </a:t>
            </a:r>
            <a:r>
              <a:rPr lang="en-IN" sz="1800" dirty="0" err="1"/>
              <a:t>Calculated_Duration</a:t>
            </a:r>
            <a:r>
              <a:rPr lang="en-IN" sz="1800" dirty="0"/>
              <a:t>.</a:t>
            </a:r>
          </a:p>
          <a:p>
            <a:pPr lvl="0"/>
            <a:r>
              <a:rPr lang="en-IN" sz="1800" b="1" dirty="0"/>
              <a:t>Model B:</a:t>
            </a:r>
            <a:r>
              <a:rPr lang="en-IN" sz="1800" dirty="0"/>
              <a:t> Included all Model A features plus </a:t>
            </a:r>
            <a:r>
              <a:rPr lang="en-IN" sz="1800" dirty="0" err="1"/>
              <a:t>Calculated_Duration</a:t>
            </a:r>
            <a:r>
              <a:rPr lang="en-IN" sz="1800" dirty="0"/>
              <a:t>.</a:t>
            </a:r>
          </a:p>
          <a:p>
            <a:r>
              <a:rPr lang="en-IN" sz="1800" dirty="0"/>
              <a:t>This comparison helped determine how much predictive improvement was obtained when charging session duration was included.</a:t>
            </a:r>
          </a:p>
          <a:p>
            <a:endParaRPr lang="en-IN" b="1" dirty="0"/>
          </a:p>
          <a:p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 6. Model Building and Comparison</a:t>
            </a:r>
          </a:p>
          <a:p>
            <a:r>
              <a:rPr lang="en-IN" dirty="0"/>
              <a:t>The cleaned and feature-engineered dataset was used to build </a:t>
            </a: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REGRESSION MODELS </a:t>
            </a:r>
            <a:r>
              <a:rPr lang="en-IN" dirty="0"/>
              <a:t>for predicting EV charging demand.</a:t>
            </a:r>
          </a:p>
          <a:p>
            <a:r>
              <a:rPr lang="en-IN" b="1" dirty="0">
                <a:solidFill>
                  <a:schemeClr val="accent2"/>
                </a:solidFill>
              </a:rPr>
              <a:t>Models Evaluated</a:t>
            </a:r>
          </a:p>
          <a:p>
            <a:r>
              <a:rPr lang="en-IN" dirty="0"/>
              <a:t>Six regression algorithms were trained and compared:</a:t>
            </a:r>
          </a:p>
          <a:p>
            <a:pPr lvl="0"/>
            <a:r>
              <a:rPr lang="en-IN" dirty="0"/>
              <a:t>Linear Regression</a:t>
            </a:r>
          </a:p>
          <a:p>
            <a:pPr lvl="0"/>
            <a:r>
              <a:rPr lang="en-IN" dirty="0"/>
              <a:t>Decision Tree Regressor</a:t>
            </a:r>
          </a:p>
          <a:p>
            <a:pPr lvl="0"/>
            <a:r>
              <a:rPr lang="en-IN" dirty="0"/>
              <a:t>Random Forest Regressor</a:t>
            </a:r>
          </a:p>
          <a:p>
            <a:pPr lvl="0"/>
            <a:r>
              <a:rPr lang="en-IN" dirty="0"/>
              <a:t>Gradient Boosting Regressor</a:t>
            </a:r>
          </a:p>
          <a:p>
            <a:pPr lvl="0"/>
            <a:r>
              <a:rPr lang="en-IN" dirty="0" err="1"/>
              <a:t>XGBoost</a:t>
            </a:r>
            <a:r>
              <a:rPr lang="en-IN" dirty="0"/>
              <a:t> Regressor</a:t>
            </a:r>
          </a:p>
          <a:p>
            <a:pPr lvl="0"/>
            <a:r>
              <a:rPr lang="en-IN" dirty="0" err="1"/>
              <a:t>LightGBM</a:t>
            </a:r>
            <a:r>
              <a:rPr lang="en-IN" dirty="0"/>
              <a:t> Regressor</a:t>
            </a:r>
          </a:p>
          <a:p>
            <a:pPr lvl="0"/>
            <a:endParaRPr lang="en-IN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91029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994905-5833-1526-F0EE-43DF322F41EB}"/>
              </a:ext>
            </a:extLst>
          </p:cNvPr>
          <p:cNvSpPr txBox="1"/>
          <p:nvPr/>
        </p:nvSpPr>
        <p:spPr>
          <a:xfrm>
            <a:off x="265471" y="100128"/>
            <a:ext cx="117495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Two feature scenarios were evaluated for each model:</a:t>
            </a:r>
          </a:p>
          <a:p>
            <a:pPr lvl="0"/>
            <a:r>
              <a:rPr lang="en-IN" sz="1800" b="1" dirty="0"/>
              <a:t>Model A:</a:t>
            </a:r>
            <a:r>
              <a:rPr lang="en-IN" sz="1800" dirty="0"/>
              <a:t> Without </a:t>
            </a:r>
            <a:r>
              <a:rPr lang="en-IN" sz="1800" dirty="0" err="1"/>
              <a:t>Calculated_Duration</a:t>
            </a:r>
            <a:endParaRPr lang="en-IN" sz="1800" dirty="0"/>
          </a:p>
          <a:p>
            <a:pPr lvl="0"/>
            <a:r>
              <a:rPr lang="en-IN" sz="1800" b="1" dirty="0"/>
              <a:t>Model B:</a:t>
            </a:r>
            <a:r>
              <a:rPr lang="en-IN" sz="1800" dirty="0"/>
              <a:t> With </a:t>
            </a:r>
            <a:r>
              <a:rPr lang="en-IN" sz="1800" dirty="0" err="1"/>
              <a:t>Calculated_Duration</a:t>
            </a:r>
            <a:endParaRPr lang="en-IN" sz="1800" dirty="0"/>
          </a:p>
          <a:p>
            <a:pPr lvl="0"/>
            <a:endParaRPr lang="en-IN" sz="1800" dirty="0"/>
          </a:p>
          <a:p>
            <a:r>
              <a:rPr lang="en-IN" sz="1800" b="1" dirty="0">
                <a:solidFill>
                  <a:schemeClr val="accent2"/>
                </a:solidFill>
              </a:rPr>
              <a:t>Evaluation Metrics</a:t>
            </a:r>
          </a:p>
          <a:p>
            <a:r>
              <a:rPr lang="en-IN" sz="1800" dirty="0"/>
              <a:t>The models were evaluated using:</a:t>
            </a:r>
          </a:p>
          <a:p>
            <a:pPr lvl="0"/>
            <a:r>
              <a:rPr lang="en-IN" sz="1800" b="1" dirty="0"/>
              <a:t>MAE (Mean Absolute Error)</a:t>
            </a:r>
            <a:r>
              <a:rPr lang="en-IN" sz="1800" dirty="0"/>
              <a:t> – measures the average absolute prediction error.</a:t>
            </a:r>
          </a:p>
          <a:p>
            <a:pPr lvl="0"/>
            <a:r>
              <a:rPr lang="en-IN" sz="1800" b="1" dirty="0"/>
              <a:t>MSE (Mean Squared Error)</a:t>
            </a:r>
            <a:r>
              <a:rPr lang="en-IN" sz="1800" dirty="0"/>
              <a:t> – gives greater weight to larger errors.</a:t>
            </a:r>
          </a:p>
          <a:p>
            <a:pPr lvl="0"/>
            <a:r>
              <a:rPr lang="en-IN" sz="1800" b="1" dirty="0"/>
              <a:t>RMSE (Root Mean Squared Error)</a:t>
            </a:r>
            <a:r>
              <a:rPr lang="en-IN" sz="1800" dirty="0"/>
              <a:t> – measures prediction error in the same unit as the target.</a:t>
            </a:r>
          </a:p>
          <a:p>
            <a:pPr lvl="0"/>
            <a:r>
              <a:rPr lang="en-IN" sz="1800" b="1" dirty="0"/>
              <a:t>R² Score</a:t>
            </a:r>
            <a:r>
              <a:rPr lang="en-IN" sz="1800" dirty="0"/>
              <a:t> – indicates how well the model explains the variation in charging demand.</a:t>
            </a:r>
          </a:p>
          <a:p>
            <a:pPr lvl="0"/>
            <a:endParaRPr lang="en-IN" dirty="0"/>
          </a:p>
          <a:p>
            <a:pPr lvl="0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8556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C05E13-B1D8-918D-3604-B231CEAE9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858776"/>
              </p:ext>
            </p:extLst>
          </p:nvPr>
        </p:nvGraphicFramePr>
        <p:xfrm>
          <a:off x="317091" y="725186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399576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39303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81792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8709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708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6.26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10.04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0.440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0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4.45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8.60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0.590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3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3.51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6.23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0.784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1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3.78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6.49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0.766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543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3.45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6.11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0.793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1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LightGBM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3.49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6.10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0.794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8962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53D4167-B1BA-C8F4-6AA1-46EB60E34859}"/>
              </a:ext>
            </a:extLst>
          </p:cNvPr>
          <p:cNvSpPr txBox="1"/>
          <p:nvPr/>
        </p:nvSpPr>
        <p:spPr>
          <a:xfrm>
            <a:off x="235974" y="202689"/>
            <a:ext cx="118183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2"/>
                </a:solidFill>
              </a:rPr>
              <a:t>Model Comparison</a:t>
            </a:r>
          </a:p>
          <a:p>
            <a:pPr>
              <a:buNone/>
            </a:pPr>
            <a:r>
              <a:rPr lang="en-IN" dirty="0"/>
              <a:t>The best results from Model B were: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solidFill>
                  <a:schemeClr val="accent6"/>
                </a:solidFill>
              </a:rPr>
              <a:t>Model Selection</a:t>
            </a:r>
          </a:p>
          <a:p>
            <a:pPr>
              <a:buNone/>
            </a:pPr>
            <a:r>
              <a:rPr lang="en-IN" b="1" dirty="0" err="1"/>
              <a:t>LightGBM</a:t>
            </a:r>
            <a:r>
              <a:rPr lang="en-IN" b="1" dirty="0"/>
              <a:t> Regressor</a:t>
            </a:r>
            <a:r>
              <a:rPr lang="en-IN" dirty="0"/>
              <a:t> was selected as the final model because it achieved the </a:t>
            </a:r>
            <a:r>
              <a:rPr lang="en-IN" b="1" dirty="0"/>
              <a:t>best RMSE (6.10) and R² score (0.794)</a:t>
            </a:r>
            <a:r>
              <a:rPr lang="en-IN" dirty="0"/>
              <a:t> among the evaluated models.</a:t>
            </a:r>
          </a:p>
          <a:p>
            <a:pPr>
              <a:buNone/>
            </a:pPr>
            <a:r>
              <a:rPr lang="en-IN" dirty="0"/>
              <a:t>Although </a:t>
            </a:r>
            <a:r>
              <a:rPr lang="en-IN" dirty="0" err="1"/>
              <a:t>XGBoost</a:t>
            </a:r>
            <a:r>
              <a:rPr lang="en-IN" dirty="0"/>
              <a:t> achieved a slightly lower MAE, </a:t>
            </a:r>
            <a:r>
              <a:rPr lang="en-IN" dirty="0" err="1"/>
              <a:t>LightGBM</a:t>
            </a:r>
            <a:r>
              <a:rPr lang="en-IN" dirty="0"/>
              <a:t> provided the best overall performance based on RMSE and R².</a:t>
            </a:r>
          </a:p>
        </p:txBody>
      </p:sp>
    </p:spTree>
    <p:extLst>
      <p:ext uri="{BB962C8B-B14F-4D97-AF65-F5344CB8AC3E}">
        <p14:creationId xmlns:p14="http://schemas.microsoft.com/office/powerpoint/2010/main" val="155036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2BE09-D326-B506-AF54-BE3417873293}"/>
              </a:ext>
            </a:extLst>
          </p:cNvPr>
          <p:cNvSpPr txBox="1"/>
          <p:nvPr/>
        </p:nvSpPr>
        <p:spPr>
          <a:xfrm>
            <a:off x="137651" y="338304"/>
            <a:ext cx="1187736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7. Key Findings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The major findings from the EV Charging Demand Prediction project are: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Charging demand showed a clear </a:t>
            </a:r>
            <a:r>
              <a:rPr lang="en-IN" b="1" dirty="0"/>
              <a:t>time-of-day pattern</a:t>
            </a:r>
            <a:r>
              <a:rPr lang="en-IN" dirty="0"/>
              <a:t>, with demand varying significantly across different hours.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Calculated_Duration</a:t>
            </a:r>
            <a:r>
              <a:rPr lang="en-IN" dirty="0"/>
              <a:t> showed a </a:t>
            </a:r>
            <a:r>
              <a:rPr lang="en-IN" b="1" dirty="0"/>
              <a:t>moderate positive relationship with Demand</a:t>
            </a:r>
            <a:r>
              <a:rPr lang="en-IN" dirty="0"/>
              <a:t> (correlation ≈ 0.604).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Demand varied across different </a:t>
            </a:r>
            <a:r>
              <a:rPr lang="en-IN" b="1" dirty="0"/>
              <a:t>locations, charger types, and charger companies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Including </a:t>
            </a:r>
            <a:r>
              <a:rPr lang="en-IN" dirty="0" err="1">
                <a:latin typeface="+mn-lt"/>
              </a:rPr>
              <a:t>Calculated_Duration</a:t>
            </a:r>
            <a:r>
              <a:rPr lang="en-IN" dirty="0"/>
              <a:t> significantly improved model performance compared with the scenario without 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Among the six regression models evaluated, </a:t>
            </a:r>
            <a:r>
              <a:rPr lang="en-IN" b="1" dirty="0" err="1"/>
              <a:t>XGBoost</a:t>
            </a:r>
            <a:r>
              <a:rPr lang="en-IN" b="1" dirty="0"/>
              <a:t> and </a:t>
            </a:r>
            <a:r>
              <a:rPr lang="en-IN" b="1" dirty="0" err="1"/>
              <a:t>LightGBM</a:t>
            </a:r>
            <a:r>
              <a:rPr lang="en-IN" b="1" dirty="0"/>
              <a:t> performed the best</a:t>
            </a:r>
            <a:r>
              <a:rPr lang="en-IN" dirty="0"/>
              <a:t>, with very similar 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LightGBM</a:t>
            </a:r>
            <a:r>
              <a:rPr lang="en-IN" dirty="0"/>
              <a:t> was selected as the final model, achieving an </a:t>
            </a:r>
            <a:r>
              <a:rPr lang="en-IN" b="1" dirty="0"/>
              <a:t>RMSE of 6.10</a:t>
            </a:r>
            <a:r>
              <a:rPr lang="en-IN" dirty="0"/>
              <a:t> and </a:t>
            </a:r>
            <a:r>
              <a:rPr lang="en-IN" b="1" dirty="0"/>
              <a:t>R² of 0.794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Feature importance analysis identified </a:t>
            </a:r>
            <a:r>
              <a:rPr lang="en-IN" b="1" dirty="0" err="1"/>
              <a:t>Calculated_Duration</a:t>
            </a:r>
            <a:r>
              <a:rPr lang="en-IN" b="1" dirty="0"/>
              <a:t>, Month, Hour, and Day</a:t>
            </a:r>
            <a:r>
              <a:rPr lang="en-IN" dirty="0"/>
              <a:t> among the most influential features.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final </a:t>
            </a:r>
            <a:r>
              <a:rPr lang="en-IN" dirty="0" err="1"/>
              <a:t>LightGBM</a:t>
            </a:r>
            <a:r>
              <a:rPr lang="en-IN" dirty="0"/>
              <a:t> model was </a:t>
            </a:r>
            <a:r>
              <a:rPr lang="en-IN" b="1" dirty="0"/>
              <a:t>serialized using Pickle</a:t>
            </a:r>
            <a:r>
              <a:rPr lang="en-IN" dirty="0"/>
              <a:t> and integrated into the </a:t>
            </a:r>
            <a:r>
              <a:rPr lang="en-IN" b="1" dirty="0" err="1"/>
              <a:t>Streamlit</a:t>
            </a:r>
            <a:r>
              <a:rPr lang="en-IN" b="1" dirty="0"/>
              <a:t> dashboard</a:t>
            </a:r>
            <a:r>
              <a:rPr lang="en-IN" dirty="0"/>
              <a:t> for interactive demand prediction.</a:t>
            </a:r>
          </a:p>
        </p:txBody>
      </p:sp>
    </p:spTree>
    <p:extLst>
      <p:ext uri="{BB962C8B-B14F-4D97-AF65-F5344CB8AC3E}">
        <p14:creationId xmlns:p14="http://schemas.microsoft.com/office/powerpoint/2010/main" val="92135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3200D-863B-9577-A2F8-E064CB9B2E1C}"/>
              </a:ext>
            </a:extLst>
          </p:cNvPr>
          <p:cNvSpPr txBox="1"/>
          <p:nvPr/>
        </p:nvSpPr>
        <p:spPr>
          <a:xfrm>
            <a:off x="152400" y="137652"/>
            <a:ext cx="1177412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Classification – High Demand Prediction</a:t>
            </a: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Objective</a:t>
            </a:r>
          </a:p>
          <a:p>
            <a:pPr>
              <a:buNone/>
            </a:pPr>
            <a:r>
              <a:rPr lang="en-IN" dirty="0"/>
              <a:t>Classify each EV charging session as </a:t>
            </a:r>
            <a:r>
              <a:rPr lang="en-IN" b="1" dirty="0"/>
              <a:t>High Demand</a:t>
            </a:r>
            <a:r>
              <a:rPr lang="en-IN" dirty="0"/>
              <a:t> or </a:t>
            </a:r>
            <a:r>
              <a:rPr lang="en-IN" b="1" dirty="0"/>
              <a:t>Normal Demand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Target Definition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Median Demand = </a:t>
            </a:r>
            <a:r>
              <a:rPr lang="en-IN" b="1" dirty="0"/>
              <a:t>14.1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High Demand:</a:t>
            </a:r>
            <a:r>
              <a:rPr lang="en-IN" dirty="0"/>
              <a:t> Demand ≥ 14.1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Normal Demand:</a:t>
            </a:r>
            <a:r>
              <a:rPr lang="en-IN" dirty="0"/>
              <a:t> Demand &lt; 14.1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Classes were almost perfectly balanced (</a:t>
            </a:r>
            <a:r>
              <a:rPr lang="en-IN" b="1" dirty="0"/>
              <a:t>50.04% vs 49.96%</a:t>
            </a:r>
            <a:r>
              <a:rPr lang="en-IN" dirty="0"/>
              <a:t>), so no oversampling/SMOTE was required.</a:t>
            </a:r>
          </a:p>
          <a:p>
            <a:pPr>
              <a:buNone/>
            </a:pP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8B4ACE-6DC2-8409-FCD3-9D2D4A97E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011724"/>
              </p:ext>
            </p:extLst>
          </p:nvPr>
        </p:nvGraphicFramePr>
        <p:xfrm>
          <a:off x="808704" y="3092307"/>
          <a:ext cx="10596716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9179">
                  <a:extLst>
                    <a:ext uri="{9D8B030D-6E8A-4147-A177-3AD203B41FA5}">
                      <a16:colId xmlns:a16="http://schemas.microsoft.com/office/drawing/2014/main" val="1399359737"/>
                    </a:ext>
                  </a:extLst>
                </a:gridCol>
                <a:gridCol w="2649179">
                  <a:extLst>
                    <a:ext uri="{9D8B030D-6E8A-4147-A177-3AD203B41FA5}">
                      <a16:colId xmlns:a16="http://schemas.microsoft.com/office/drawing/2014/main" val="4195942205"/>
                    </a:ext>
                  </a:extLst>
                </a:gridCol>
                <a:gridCol w="2649179">
                  <a:extLst>
                    <a:ext uri="{9D8B030D-6E8A-4147-A177-3AD203B41FA5}">
                      <a16:colId xmlns:a16="http://schemas.microsoft.com/office/drawing/2014/main" val="3160716618"/>
                    </a:ext>
                  </a:extLst>
                </a:gridCol>
                <a:gridCol w="2649179">
                  <a:extLst>
                    <a:ext uri="{9D8B030D-6E8A-4147-A177-3AD203B41FA5}">
                      <a16:colId xmlns:a16="http://schemas.microsoft.com/office/drawing/2014/main" val="248354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015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99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84.78%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84.79%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924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95.16%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860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79.92%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05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123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solidFill>
                            <a:schemeClr val="accent6"/>
                          </a:solidFill>
                        </a:rPr>
                        <a:t>XGBoost</a:t>
                      </a:r>
                      <a:endParaRPr lang="en-IN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6"/>
                          </a:solidFill>
                        </a:rPr>
                        <a:t>89.65%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6"/>
                          </a:solidFill>
                        </a:rPr>
                        <a:t>90.03%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6"/>
                          </a:solidFill>
                        </a:rPr>
                        <a:t>95.72%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72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LightGBM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83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292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FA932E-43C6-DE53-A878-CED49DC22ECB}"/>
              </a:ext>
            </a:extLst>
          </p:cNvPr>
          <p:cNvSpPr txBox="1"/>
          <p:nvPr/>
        </p:nvSpPr>
        <p:spPr>
          <a:xfrm>
            <a:off x="255639" y="275303"/>
            <a:ext cx="116020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accent2">
                    <a:lumMod val="75000"/>
                  </a:schemeClr>
                </a:solidFill>
              </a:rPr>
              <a:t>Models Compared</a:t>
            </a:r>
          </a:p>
          <a:p>
            <a:pPr>
              <a:buNone/>
            </a:pPr>
            <a:r>
              <a:rPr lang="en-IN" sz="1800" b="1" dirty="0"/>
              <a:t>Logistic Regression | Decision Tree | Random Forest | KNN | SVM | </a:t>
            </a:r>
            <a:r>
              <a:rPr lang="en-IN" sz="1800" b="1" dirty="0" err="1"/>
              <a:t>XGBoost</a:t>
            </a:r>
            <a:r>
              <a:rPr lang="en-IN" sz="1800" b="1" dirty="0"/>
              <a:t> | </a:t>
            </a:r>
            <a:r>
              <a:rPr lang="en-IN" sz="1800" b="1" dirty="0" err="1"/>
              <a:t>LightGBM</a:t>
            </a:r>
            <a:endParaRPr lang="en-IN" sz="1800" dirty="0"/>
          </a:p>
          <a:p>
            <a:pPr>
              <a:buNone/>
            </a:pPr>
            <a:r>
              <a:rPr lang="en-IN" sz="1800" b="1" dirty="0"/>
              <a:t>Best Model – </a:t>
            </a:r>
            <a:r>
              <a:rPr lang="en-IN" sz="1800" b="1" dirty="0" err="1"/>
              <a:t>XGBoost</a:t>
            </a:r>
            <a:endParaRPr lang="en-IN" sz="18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Accuracy:</a:t>
            </a:r>
            <a:r>
              <a:rPr lang="en-IN" sz="1800" dirty="0"/>
              <a:t> 89.65%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Precision:</a:t>
            </a:r>
            <a:r>
              <a:rPr lang="en-IN" sz="1800" dirty="0"/>
              <a:t> 86.96%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Recall:</a:t>
            </a:r>
            <a:r>
              <a:rPr lang="en-IN" sz="1800" dirty="0"/>
              <a:t> 93.32%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F1-Score:</a:t>
            </a:r>
            <a:r>
              <a:rPr lang="en-IN" sz="1800" dirty="0"/>
              <a:t> 90.03%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/>
              <a:t>ROC-AUC:</a:t>
            </a:r>
            <a:r>
              <a:rPr lang="en-IN" sz="1800" dirty="0"/>
              <a:t> 95.72%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/>
          </a:p>
          <a:p>
            <a:pPr>
              <a:buNone/>
            </a:pPr>
            <a:r>
              <a:rPr lang="en-IN" sz="1800" b="1" dirty="0">
                <a:solidFill>
                  <a:schemeClr val="accent2">
                    <a:lumMod val="75000"/>
                  </a:schemeClr>
                </a:solidFill>
              </a:rPr>
              <a:t>Key Finding</a:t>
            </a:r>
          </a:p>
          <a:p>
            <a:pPr>
              <a:buNone/>
            </a:pPr>
            <a:r>
              <a:rPr lang="en-IN" sz="1800" b="1" dirty="0" err="1"/>
              <a:t>ChargerType</a:t>
            </a:r>
            <a:r>
              <a:rPr lang="en-IN" sz="1800" dirty="0"/>
              <a:t> was the most important predictive factor, followed by </a:t>
            </a:r>
            <a:r>
              <a:rPr lang="en-IN" sz="1800" b="1" dirty="0" err="1"/>
              <a:t>Calculated_Duration</a:t>
            </a:r>
            <a:r>
              <a:rPr lang="en-IN" sz="1800" dirty="0"/>
              <a:t> and </a:t>
            </a:r>
            <a:r>
              <a:rPr lang="en-IN" sz="1800" b="1" dirty="0" err="1"/>
              <a:t>ChargerCompany</a:t>
            </a:r>
            <a:r>
              <a:rPr lang="en-IN" sz="1800" dirty="0"/>
              <a:t>.</a:t>
            </a:r>
          </a:p>
          <a:p>
            <a:pPr>
              <a:buNone/>
            </a:pPr>
            <a:r>
              <a:rPr lang="en-IN" sz="1800" b="1" dirty="0"/>
              <a:t>Model Deployment</a:t>
            </a:r>
          </a:p>
          <a:p>
            <a:pPr>
              <a:buNone/>
            </a:pPr>
            <a:r>
              <a:rPr lang="en-IN" sz="1800" dirty="0"/>
              <a:t>The final </a:t>
            </a:r>
            <a:r>
              <a:rPr lang="en-IN" sz="1800" dirty="0" err="1"/>
              <a:t>XGBoost</a:t>
            </a:r>
            <a:r>
              <a:rPr lang="en-IN" sz="1800" dirty="0"/>
              <a:t> classification pipeline was </a:t>
            </a:r>
            <a:r>
              <a:rPr lang="en-IN" sz="1800" b="1" dirty="0"/>
              <a:t>serialized using Pickle</a:t>
            </a:r>
            <a:r>
              <a:rPr lang="en-IN" sz="1800" dirty="0"/>
              <a:t> for later integration into the </a:t>
            </a:r>
            <a:r>
              <a:rPr lang="en-IN" sz="1800" dirty="0" err="1"/>
              <a:t>Streamlit</a:t>
            </a:r>
            <a:r>
              <a:rPr lang="en-IN" sz="1800" dirty="0"/>
              <a:t> dashboard.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0E6E29-8137-A2E8-D90F-9A0FE85D461E}"/>
              </a:ext>
            </a:extLst>
          </p:cNvPr>
          <p:cNvSpPr txBox="1"/>
          <p:nvPr/>
        </p:nvSpPr>
        <p:spPr>
          <a:xfrm>
            <a:off x="255639" y="3968622"/>
            <a:ext cx="11464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FINAL MODEL SELECTION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919B2C-3986-41C0-7A12-D26A32D68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218392"/>
              </p:ext>
            </p:extLst>
          </p:nvPr>
        </p:nvGraphicFramePr>
        <p:xfrm>
          <a:off x="255639" y="4418201"/>
          <a:ext cx="10515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53648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790215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27847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Final Model/Method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9789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LightGBM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R² = 0.794, RMSE = 6.10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83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 = 89.65%, ROC-AUC = 95.72%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01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26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FD7DD-CC52-79A5-1EAB-8709D4A076D9}"/>
              </a:ext>
            </a:extLst>
          </p:cNvPr>
          <p:cNvSpPr txBox="1"/>
          <p:nvPr/>
        </p:nvSpPr>
        <p:spPr>
          <a:xfrm>
            <a:off x="2939845" y="23684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</a:rPr>
              <a:t>STREAMLIT DAHBOARD &amp;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8FBAC-CDE5-1C2B-9D54-9894DC3E6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72" y="667728"/>
            <a:ext cx="3343818" cy="3313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5D3EE6-B472-9976-C519-1D5C296F1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535" y="609744"/>
            <a:ext cx="3102073" cy="32129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42381C-7067-EB44-45ED-41B2200FD92A}"/>
              </a:ext>
            </a:extLst>
          </p:cNvPr>
          <p:cNvSpPr txBox="1"/>
          <p:nvPr/>
        </p:nvSpPr>
        <p:spPr>
          <a:xfrm>
            <a:off x="6924372" y="4028742"/>
            <a:ext cx="2241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Classification</a:t>
            </a:r>
          </a:p>
          <a:p>
            <a:pPr algn="ctr"/>
            <a:r>
              <a:rPr lang="en-IN" sz="1600" dirty="0" err="1"/>
              <a:t>XGBoost</a:t>
            </a:r>
            <a:r>
              <a:rPr lang="en-IN" sz="1600" dirty="0"/>
              <a:t> prediction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51572-E7A1-96CC-96CB-7F9F4F42EAAD}"/>
              </a:ext>
            </a:extLst>
          </p:cNvPr>
          <p:cNvSpPr txBox="1"/>
          <p:nvPr/>
        </p:nvSpPr>
        <p:spPr>
          <a:xfrm>
            <a:off x="1596895" y="4154995"/>
            <a:ext cx="2241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dirty="0"/>
              <a:t>Regression</a:t>
            </a:r>
          </a:p>
          <a:p>
            <a:pPr algn="ctr">
              <a:buNone/>
            </a:pPr>
            <a:r>
              <a:rPr lang="en-IN" sz="1600" dirty="0" err="1"/>
              <a:t>LightGBM</a:t>
            </a:r>
            <a:r>
              <a:rPr lang="en-IN" sz="1600" dirty="0"/>
              <a:t> prediction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D1854-07CF-6898-9AA4-584F80AD94EA}"/>
              </a:ext>
            </a:extLst>
          </p:cNvPr>
          <p:cNvSpPr txBox="1"/>
          <p:nvPr/>
        </p:nvSpPr>
        <p:spPr>
          <a:xfrm>
            <a:off x="501444" y="5404312"/>
            <a:ext cx="11444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</a:t>
            </a:r>
            <a:r>
              <a:rPr lang="en-IN" dirty="0" err="1"/>
              <a:t>Streamlit</a:t>
            </a:r>
            <a:r>
              <a:rPr lang="en-IN" dirty="0"/>
              <a:t> dashboard integrates the trained and serialized machine learning models to provide interactive demand predictions, classification results, model performance comparisons, feature importance, SHAP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73488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1318</Words>
  <Application>Microsoft Office PowerPoint</Application>
  <PresentationFormat>Widescreen</PresentationFormat>
  <Paragraphs>244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B</dc:creator>
  <cp:lastModifiedBy>Deepika B</cp:lastModifiedBy>
  <cp:revision>10</cp:revision>
  <dcterms:created xsi:type="dcterms:W3CDTF">2026-10-04T16:11:27Z</dcterms:created>
  <dcterms:modified xsi:type="dcterms:W3CDTF">2026-10-12T05:00:32Z</dcterms:modified>
</cp:coreProperties>
</file>